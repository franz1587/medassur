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42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426F"/>
          </a:solidFill>
          <a:ln/>
        </p:spPr>
      </p:sp>
      <p:sp>
        <p:nvSpPr>
          <p:cNvPr id="3" name="Shape 1"/>
          <p:cNvSpPr/>
          <p:nvPr/>
        </p:nvSpPr>
        <p:spPr>
          <a:xfrm>
            <a:off x="5485028" y="0"/>
            <a:ext cx="6703924" cy="6858000"/>
          </a:xfrm>
          <a:prstGeom prst="rect">
            <a:avLst/>
          </a:prstGeom>
          <a:solidFill>
            <a:srgbClr val="0D73BF">
              <a:alpha val="4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22960"/>
            <a:ext cx="4206240" cy="321041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2461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INSURANCE MANAGEMENT PLATFORM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576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 to manage, treat and insure — built for Gabon and the CIMA zone.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217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insurance management is still fragmented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62956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Silos and spreadsheets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21992"/>
            <a:ext cx="48143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department runs its own tool. Nothing talks to the next, everything gets re-typed.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77356" y="1600200"/>
            <a:ext cx="5362956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51676" y="178308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CIMA compliance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51676" y="2221992"/>
            <a:ext cx="48143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Rates, benefits and regulatory documents kept up to date by hand.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5362956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52044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reimbursements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959352"/>
            <a:ext cx="48143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back-and-forth between the insured, the provider and the claims handler.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77356" y="3337560"/>
            <a:ext cx="5362956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51676" y="352044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real-time view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51676" y="3959352"/>
            <a:ext cx="48143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 ratio is discovered after the fact, never live.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the health insurance management platform</a:t>
            </a:r>
            <a:endParaRPr lang="en-US" sz="9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a place for every stakeholder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data engine. Tailored access for everyone — on web and on mobile.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 flipV="1">
            <a:off x="6094476" y="2398471"/>
            <a:ext cx="9144" cy="1762049"/>
          </a:xfrm>
          <a:prstGeom prst="line">
            <a:avLst/>
          </a:prstGeom>
          <a:noFill/>
          <a:ln w="19050">
            <a:solidFill>
              <a:srgbClr val="BBD6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51476" y="2009851"/>
            <a:ext cx="2286000" cy="777240"/>
          </a:xfrm>
          <a:prstGeom prst="roundRect">
            <a:avLst>
              <a:gd name="adj" fmla="val 14118"/>
            </a:avLst>
          </a:prstGeom>
          <a:solidFill>
            <a:srgbClr val="EAF4FB"/>
          </a:solidFill>
          <a:ln w="12700">
            <a:solidFill>
              <a:srgbClr val="BBD6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42916" y="2009851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4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 / Broker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flipV="1">
            <a:off x="6094476" y="3279496"/>
            <a:ext cx="1860950" cy="881024"/>
          </a:xfrm>
          <a:prstGeom prst="line">
            <a:avLst/>
          </a:prstGeom>
          <a:noFill/>
          <a:ln w="19050">
            <a:solidFill>
              <a:srgbClr val="BBD6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12426" y="2890876"/>
            <a:ext cx="2286000" cy="777240"/>
          </a:xfrm>
          <a:prstGeom prst="roundRect">
            <a:avLst>
              <a:gd name="adj" fmla="val 14118"/>
            </a:avLst>
          </a:prstGeom>
          <a:solidFill>
            <a:srgbClr val="EAF4FB"/>
          </a:solidFill>
          <a:ln w="12700">
            <a:solidFill>
              <a:srgbClr val="BBD6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03866" y="2890876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4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Insured member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94476" y="4160520"/>
            <a:ext cx="1860950" cy="881024"/>
          </a:xfrm>
          <a:prstGeom prst="line">
            <a:avLst/>
          </a:prstGeom>
          <a:noFill/>
          <a:ln w="19050">
            <a:solidFill>
              <a:srgbClr val="BBD6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2426" y="4652924"/>
            <a:ext cx="2286000" cy="777240"/>
          </a:xfrm>
          <a:prstGeom prst="roundRect">
            <a:avLst>
              <a:gd name="adj" fmla="val 14118"/>
            </a:avLst>
          </a:prstGeom>
          <a:solidFill>
            <a:srgbClr val="EAF4FB"/>
          </a:solidFill>
          <a:ln w="12700">
            <a:solidFill>
              <a:srgbClr val="BBD6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03866" y="4652924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4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Policyholder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94476" y="4160520"/>
            <a:ext cx="9144" cy="1762049"/>
          </a:xfrm>
          <a:prstGeom prst="line">
            <a:avLst/>
          </a:prstGeom>
          <a:noFill/>
          <a:ln w="19050">
            <a:solidFill>
              <a:srgbClr val="BBD6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51476" y="5533949"/>
            <a:ext cx="2286000" cy="777240"/>
          </a:xfrm>
          <a:prstGeom prst="roundRect">
            <a:avLst>
              <a:gd name="adj" fmla="val 14118"/>
            </a:avLst>
          </a:prstGeom>
          <a:solidFill>
            <a:srgbClr val="EAF4FB"/>
          </a:solidFill>
          <a:ln w="12700">
            <a:solidFill>
              <a:srgbClr val="BBD6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2916" y="5533949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4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provider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H="1">
            <a:off x="4233526" y="4160520"/>
            <a:ext cx="1860950" cy="881024"/>
          </a:xfrm>
          <a:prstGeom prst="line">
            <a:avLst/>
          </a:prstGeom>
          <a:noFill/>
          <a:ln w="19050">
            <a:solidFill>
              <a:srgbClr val="BBD6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90526" y="4652924"/>
            <a:ext cx="2286000" cy="777240"/>
          </a:xfrm>
          <a:prstGeom prst="roundRect">
            <a:avLst>
              <a:gd name="adj" fmla="val 14118"/>
            </a:avLst>
          </a:prstGeom>
          <a:solidFill>
            <a:srgbClr val="EAF4FB"/>
          </a:solidFill>
          <a:ln w="12700">
            <a:solidFill>
              <a:srgbClr val="BBD6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81966" y="4652924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4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 flipH="1" flipV="1">
            <a:off x="4233526" y="3279496"/>
            <a:ext cx="1860950" cy="881024"/>
          </a:xfrm>
          <a:prstGeom prst="line">
            <a:avLst/>
          </a:prstGeom>
          <a:noFill/>
          <a:ln w="19050">
            <a:solidFill>
              <a:srgbClr val="BBD6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90526" y="2890876"/>
            <a:ext cx="2286000" cy="777240"/>
          </a:xfrm>
          <a:prstGeom prst="roundRect">
            <a:avLst>
              <a:gd name="adj" fmla="val 14118"/>
            </a:avLst>
          </a:prstGeom>
          <a:solidFill>
            <a:srgbClr val="EAF4FB"/>
          </a:solidFill>
          <a:ln w="12700">
            <a:solidFill>
              <a:srgbClr val="BBD6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181966" y="2890876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4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05756" y="3703320"/>
            <a:ext cx="2377440" cy="914400"/>
          </a:xfrm>
          <a:prstGeom prst="ellipse">
            <a:avLst/>
          </a:prstGeom>
          <a:solidFill>
            <a:srgbClr val="0A426F"/>
          </a:solidFill>
          <a:ln/>
          <a:effectLst>
            <a:outerShdw sx="100000" sy="100000" kx="0" ky="0" algn="bl" rotWithShape="0" blurRad="152400" dist="50800" dir="5400000">
              <a:srgbClr val="0A426F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905756" y="3703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MEDASSUR+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the health insurance management platform</a:t>
            </a:r>
            <a:endParaRPr lang="en-US" sz="9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42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8803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management console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2606040"/>
            <a:ext cx="822960" cy="73152"/>
          </a:xfrm>
          <a:prstGeom prst="rect">
            <a:avLst/>
          </a:prstGeom>
          <a:solidFill>
            <a:srgbClr val="17A48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the health insurance management platform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dashboard that runs the whole operation,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39112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965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policies, insured population, client portfolio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43784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7706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and cash position tracked day to day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648456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57530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data, never an estimate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062472" y="1453325"/>
            <a:ext cx="5888736" cy="3585591"/>
          </a:xfrm>
          <a:prstGeom prst="roundRect">
            <a:avLst>
              <a:gd name="adj" fmla="val 1275"/>
            </a:avLst>
          </a:prstGeom>
          <a:solidFill>
            <a:srgbClr val="FFFFFF"/>
          </a:solidFill>
          <a:ln w="12700">
            <a:solidFill>
              <a:srgbClr val="D7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426F">
                <a:alpha val="18000"/>
              </a:srgbClr>
            </a:outerShdw>
          </a:effectLst>
        </p:spPr>
      </p:sp>
      <p:pic>
        <p:nvPicPr>
          <p:cNvPr id="10" name="Image 0" descr="C:\Users\LEE FRANZ\AppData\Local\Temp\claude\d--PROJET-MEDASSUR-MEDASSUR\c78198f5-dda4-485d-a494-1b8884e22297\scratchpad\deck_assets\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563053"/>
            <a:ext cx="5669280" cy="336613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the health insurance management platform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1453325"/>
            <a:ext cx="5888736" cy="3585591"/>
          </a:xfrm>
          <a:prstGeom prst="roundRect">
            <a:avLst>
              <a:gd name="adj" fmla="val 1275"/>
            </a:avLst>
          </a:prstGeom>
          <a:solidFill>
            <a:srgbClr val="FFFFFF"/>
          </a:solidFill>
          <a:ln w="12700">
            <a:solidFill>
              <a:srgbClr val="D7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426F">
                <a:alpha val="18000"/>
              </a:srgbClr>
            </a:outerShdw>
          </a:effectLst>
        </p:spPr>
      </p:sp>
      <p:pic>
        <p:nvPicPr>
          <p:cNvPr id="3" name="Image 0" descr="C:\Users\LEE FRANZ\AppData\Local\Temp\claude\d--PROJET-MEDASSUR-MEDASSUR\c78198f5-dda4-485d-a494-1b8884e22297\scratchpad\deck_assets\contra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63053"/>
            <a:ext cx="5669280" cy="336613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12280" y="502920"/>
            <a:ext cx="4828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policy lifecycle, start to finish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12280" y="2039112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32320" y="1965960"/>
            <a:ext cx="4507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→ population → benefits → endorsements → renewals, in one screen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812280" y="2843784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0" y="2770632"/>
            <a:ext cx="4507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an Assistance policy can now pool the population of several Health policies for the same policyholder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812280" y="3968496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132320" y="3895344"/>
            <a:ext cx="4507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recalculated automatically across the combined population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the health insurance management platform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Invoices and claims under control, in real time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91672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Multi-line entry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21992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search for the provider and the insured, line by line.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11091672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52044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 checked live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59352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rates and caps checked at entry, never after the fact.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5074920"/>
            <a:ext cx="11091672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525780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 generated automatically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696712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and settlement true to the client's own paper model.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the health insurance management platform</a:t>
            </a:r>
            <a:endParaRPr lang="en-US" sz="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documents, your brand — pixel for pixel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27048"/>
            <a:ext cx="118872" cy="118872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1248" y="1463040"/>
            <a:ext cx="1079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Receipts, statements, settlements, endorsements: the client's own paper template, reproduced exactly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93976"/>
            <a:ext cx="118872" cy="118872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029968"/>
            <a:ext cx="1079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broker's or insurer's logo replaces plain text, large and sharp, on every document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60904"/>
            <a:ext cx="118872" cy="118872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2596896"/>
            <a:ext cx="1079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signature and QR verification on the documents that require 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" y="3913632"/>
            <a:ext cx="5248656" cy="1267839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12700">
            <a:solidFill>
              <a:srgbClr val="D7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426F">
                <a:alpha val="16000"/>
              </a:srgbClr>
            </a:outerShdw>
          </a:effectLst>
        </p:spPr>
      </p:sp>
      <p:pic>
        <p:nvPicPr>
          <p:cNvPr id="10" name="Image 0" descr="C:\Users\LEE FRANZ\AppData\Local\Temp\claude\d--PROJET-MEDASSUR-MEDASSUR\c78198f5-dda4-485d-a494-1b8884e22297\scratchpad\deck_assets\doc_quit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023360"/>
            <a:ext cx="5029200" cy="1048383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22960" y="5236335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— broker's identity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27064" y="3913632"/>
            <a:ext cx="5248656" cy="1267839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12700">
            <a:solidFill>
              <a:srgbClr val="D7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426F">
                <a:alpha val="16000"/>
              </a:srgbClr>
            </a:outerShdw>
          </a:effectLst>
        </p:spPr>
      </p:sp>
      <p:pic>
        <p:nvPicPr>
          <p:cNvPr id="13" name="Image 1" descr="C:\Users\LEE FRANZ\AppData\Local\Temp\claude\d--PROJET-MEDASSUR-MEDASSUR\c78198f5-dda4-485d-a494-1b8884e22297\scratchpad\deck_assets\doc_avena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4251269"/>
            <a:ext cx="5029200" cy="5925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336792" y="5236335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Endorsement — insurer's identity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the health insurance management platform</a:t>
            </a:r>
            <a:endParaRPr lang="en-US" sz="9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42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Statistics that drive the decision, not delay 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377440"/>
            <a:ext cx="3392424" cy="2377440"/>
          </a:xfrm>
          <a:prstGeom prst="roundRect">
            <a:avLst>
              <a:gd name="adj" fmla="val 3846"/>
            </a:avLst>
          </a:prstGeom>
          <a:solidFill>
            <a:srgbClr val="0D73BF">
              <a:alpha val="28000"/>
            </a:srgbClr>
          </a:solidFill>
          <a:ln w="12700">
            <a:solidFill>
              <a:srgbClr val="2E79B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743200"/>
            <a:ext cx="3026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6A4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690 M+ FCFA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79476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claims tracked and analyzed continuously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98264" y="2377440"/>
            <a:ext cx="3392424" cy="2377440"/>
          </a:xfrm>
          <a:prstGeom prst="roundRect">
            <a:avLst>
              <a:gd name="adj" fmla="val 3846"/>
            </a:avLst>
          </a:prstGeom>
          <a:solidFill>
            <a:srgbClr val="0D73BF">
              <a:alpha val="28000"/>
            </a:srgbClr>
          </a:solidFill>
          <a:ln w="12700">
            <a:solidFill>
              <a:srgbClr val="2E79B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81144" y="2743200"/>
            <a:ext cx="3026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6A4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ratio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4626864" y="379476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per policy and per period, live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47888" y="2377440"/>
            <a:ext cx="3392424" cy="2377440"/>
          </a:xfrm>
          <a:prstGeom prst="roundRect">
            <a:avLst>
              <a:gd name="adj" fmla="val 3846"/>
            </a:avLst>
          </a:prstGeom>
          <a:solidFill>
            <a:srgbClr val="0D73BF">
              <a:alpha val="28000"/>
            </a:srgbClr>
          </a:solidFill>
          <a:ln w="12700">
            <a:solidFill>
              <a:srgbClr val="2E79B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30768" y="2743200"/>
            <a:ext cx="3026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6A4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/ Word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8476488" y="379476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generated on demand, with real charts included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the health insurance management platform</a:t>
            </a:r>
            <a:endParaRPr lang="en-US" sz="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42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8803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2606040"/>
            <a:ext cx="822960" cy="73152"/>
          </a:xfrm>
          <a:prstGeom prst="rect">
            <a:avLst/>
          </a:prstGeom>
          <a:solidFill>
            <a:srgbClr val="17A48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the health insurance management platform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copilot for your teams, built into the app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39112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965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letters, explains a benefit, helps reconcile an account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43784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7706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CIMA compliance questions, right from the screen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648456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57530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invents a figure: points to the right screen for any real data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062472" y="1453325"/>
            <a:ext cx="5888736" cy="3585591"/>
          </a:xfrm>
          <a:prstGeom prst="roundRect">
            <a:avLst>
              <a:gd name="adj" fmla="val 1275"/>
            </a:avLst>
          </a:prstGeom>
          <a:solidFill>
            <a:srgbClr val="FFFFFF"/>
          </a:solidFill>
          <a:ln w="12700">
            <a:solidFill>
              <a:srgbClr val="D7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426F">
                <a:alpha val="18000"/>
              </a:srgbClr>
            </a:outerShdw>
          </a:effectLst>
        </p:spPr>
      </p:sp>
      <p:pic>
        <p:nvPicPr>
          <p:cNvPr id="10" name="Image 0" descr="C:\Users\LEE FRANZ\AppData\Local\Temp\claude\d--PROJET-MEDASSUR-MEDASSUR\c78198f5-dda4-485d-a494-1b8884e22297\scratchpad\deck_assets\ai_assist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563053"/>
            <a:ext cx="5669280" cy="336613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the health insurance management platform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 that answers insured members and providers, 24/7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91672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Reviews a file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21992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Prescription, estimate, caps — a decision is suggested from the real benefits.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11091672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52044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Reads live data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59352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Benefits, consumption and family history, in real time.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5074920"/>
            <a:ext cx="11091672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525780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Knows its limits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696712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off to a human claims handler with a full summary whenever needed.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the health insurance management platform</a:t>
            </a:r>
            <a:endParaRPr lang="en-US" sz="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Security, compliance and trust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91672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Multi-tenant, fully isolated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21992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insurer, broker or mutual sees only its own data — isolation enforced at the database level itself.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11091672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52044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 signature and QR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59352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signed document carries a QR code; a public verification page confirms its authenticity.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5074920"/>
            <a:ext cx="11091672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525780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CIMA Code compliant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696712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Rates, benefits and regulatory documents kept up to date inside the application.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the health insurance management platform</a:t>
            </a:r>
            <a:endParaRPr lang="en-US" sz="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42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8803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channel for every stakeholder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2606040"/>
            <a:ext cx="822960" cy="73152"/>
          </a:xfrm>
          <a:prstGeom prst="rect">
            <a:avLst/>
          </a:prstGeom>
          <a:solidFill>
            <a:srgbClr val="17A48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the health insurance management platform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Portal — their card, their benefits, one click away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39112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965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card, benefits and status at a glance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43784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7706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Prior-authorization and reimbursement requests online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648456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57530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spend detailed by beneficiary and by benefit type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062472" y="1453325"/>
            <a:ext cx="5888736" cy="3585591"/>
          </a:xfrm>
          <a:prstGeom prst="roundRect">
            <a:avLst>
              <a:gd name="adj" fmla="val 1275"/>
            </a:avLst>
          </a:prstGeom>
          <a:solidFill>
            <a:srgbClr val="FFFFFF"/>
          </a:solidFill>
          <a:ln w="12700">
            <a:solidFill>
              <a:srgbClr val="D7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426F">
                <a:alpha val="18000"/>
              </a:srgbClr>
            </a:outerShdw>
          </a:effectLst>
        </p:spPr>
      </p:sp>
      <p:pic>
        <p:nvPicPr>
          <p:cNvPr id="10" name="Image 0" descr="C:\Users\LEE FRANZ\AppData\Local\Temp\claude\d--PROJET-MEDASSUR-MEDASSUR\c78198f5-dda4-485d-a494-1b8884e22297\scratchpad\deck_assets\portal_ass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563053"/>
            <a:ext cx="5669280" cy="336613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the health insurance management platform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1453325"/>
            <a:ext cx="5888736" cy="3585591"/>
          </a:xfrm>
          <a:prstGeom prst="roundRect">
            <a:avLst>
              <a:gd name="adj" fmla="val 1275"/>
            </a:avLst>
          </a:prstGeom>
          <a:solidFill>
            <a:srgbClr val="FFFFFF"/>
          </a:solidFill>
          <a:ln w="12700">
            <a:solidFill>
              <a:srgbClr val="D7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426F">
                <a:alpha val="18000"/>
              </a:srgbClr>
            </a:outerShdw>
          </a:effectLst>
        </p:spPr>
      </p:sp>
      <p:pic>
        <p:nvPicPr>
          <p:cNvPr id="3" name="Image 0" descr="C:\Users\LEE FRANZ\AppData\Local\Temp\claude\d--PROJET-MEDASSUR-MEDASSUR\c78198f5-dda4-485d-a494-1b8884e22297\scratchpad\deck_assets\portal_souscripte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63053"/>
            <a:ext cx="5669280" cy="336613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12280" y="502920"/>
            <a:ext cx="4828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Policyholder Portal — the whole client company, self-service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12280" y="2039112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32320" y="1965960"/>
            <a:ext cx="4507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Policies, beneficiaries and requests in one place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812280" y="2843784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0" y="2770632"/>
            <a:ext cx="4507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additions and departures in a few clicks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812280" y="3648456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132320" y="3575304"/>
            <a:ext cx="4507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consumption statistics, by benefit type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the health insurance management platform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 Portal — billing and claims submission made simple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39112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965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Patients, services and estimates in one workspace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43784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7706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referrals and submitting invoices electronically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648456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57530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financial tracking and settlement statements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062472" y="1453325"/>
            <a:ext cx="5888736" cy="3585591"/>
          </a:xfrm>
          <a:prstGeom prst="roundRect">
            <a:avLst>
              <a:gd name="adj" fmla="val 1275"/>
            </a:avLst>
          </a:prstGeom>
          <a:solidFill>
            <a:srgbClr val="FFFFFF"/>
          </a:solidFill>
          <a:ln w="12700">
            <a:solidFill>
              <a:srgbClr val="D7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426F">
                <a:alpha val="18000"/>
              </a:srgbClr>
            </a:outerShdw>
          </a:effectLst>
        </p:spPr>
      </p:sp>
      <p:pic>
        <p:nvPicPr>
          <p:cNvPr id="10" name="Image 0" descr="C:\Users\LEE FRANZ\AppData\Local\Temp\claude\d--PROJET-MEDASSUR-MEDASSUR\c78198f5-dda4-485d-a494-1b8884e22297\scratchpad\deck_assets\portal_prestatai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563053"/>
            <a:ext cx="5669280" cy="336613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the health insurance management platform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1453325"/>
            <a:ext cx="5888736" cy="3585591"/>
          </a:xfrm>
          <a:prstGeom prst="roundRect">
            <a:avLst>
              <a:gd name="adj" fmla="val 1275"/>
            </a:avLst>
          </a:prstGeom>
          <a:solidFill>
            <a:srgbClr val="FFFFFF"/>
          </a:solidFill>
          <a:ln w="12700">
            <a:solidFill>
              <a:srgbClr val="D7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426F">
                <a:alpha val="18000"/>
              </a:srgbClr>
            </a:outerShdw>
          </a:effectLst>
        </p:spPr>
      </p:sp>
      <p:pic>
        <p:nvPicPr>
          <p:cNvPr id="3" name="Image 0" descr="C:\Users\LEE FRANZ\AppData\Local\Temp\claude\d--PROJET-MEDASSUR-MEDASSUR\c78198f5-dda4-485d-a494-1b8884e22297\scratchpad\deck_assets\portal_medec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63053"/>
            <a:ext cx="5669280" cy="336613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12280" y="502920"/>
            <a:ext cx="4828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Physician Portal — prescriptions, fully digital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12280" y="2039112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32320" y="1965960"/>
            <a:ext cx="4507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Up-to-date queue and patient records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812280" y="2843784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0" y="2770632"/>
            <a:ext cx="4507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and prescription entered directly online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812280" y="3648456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132320" y="3575304"/>
            <a:ext cx="4507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of the patient's care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the health insurance management platform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unified inbox for every conversation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39112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965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Insured members, policyholders, providers and claims handlers in a single thread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43784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7706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attachments in one send, merged automatically into one document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648456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57530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follow-up when a file is waiting on a missing document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062472" y="1453325"/>
            <a:ext cx="5888736" cy="3585591"/>
          </a:xfrm>
          <a:prstGeom prst="roundRect">
            <a:avLst>
              <a:gd name="adj" fmla="val 1275"/>
            </a:avLst>
          </a:prstGeom>
          <a:solidFill>
            <a:srgbClr val="FFFFFF"/>
          </a:solidFill>
          <a:ln w="12700">
            <a:solidFill>
              <a:srgbClr val="D7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426F">
                <a:alpha val="18000"/>
              </a:srgbClr>
            </a:outerShdw>
          </a:effectLst>
        </p:spPr>
      </p:sp>
      <p:pic>
        <p:nvPicPr>
          <p:cNvPr id="10" name="Image 0" descr="C:\Users\LEE FRANZ\AppData\Local\Temp\claude\d--PROJET-MEDASSUR-MEDASSUR\c78198f5-dda4-485d-a494-1b8884e22297\scratchpad\deck_assets\messag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563053"/>
            <a:ext cx="5669280" cy="336613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the health insurance management platform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42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8803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their pocket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2606040"/>
            <a:ext cx="822960" cy="73152"/>
          </a:xfrm>
          <a:prstGeom prst="rect">
            <a:avLst/>
          </a:prstGeom>
          <a:solidFill>
            <a:srgbClr val="17A48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the health insurance management platform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713232"/>
            <a:ext cx="3239639" cy="5980176"/>
          </a:xfrm>
          <a:prstGeom prst="roundRect">
            <a:avLst>
              <a:gd name="adj" fmla="val 1411"/>
            </a:avLst>
          </a:prstGeom>
          <a:solidFill>
            <a:srgbClr val="FFFFFF"/>
          </a:solidFill>
          <a:ln w="12700">
            <a:solidFill>
              <a:srgbClr val="D7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426F">
                <a:alpha val="18000"/>
              </a:srgbClr>
            </a:outerShdw>
          </a:effectLst>
        </p:spPr>
      </p:sp>
      <p:pic>
        <p:nvPicPr>
          <p:cNvPr id="3" name="Image 0" descr="C:\Users\LEE FRANZ\AppData\Local\Temp\claude\d--PROJET-MEDASSUR-MEDASSUR\c78198f5-dda4-485d-a494-1b8884e22297\scratchpad\deck_assets\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22960"/>
            <a:ext cx="3020183" cy="5760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163183" y="502920"/>
            <a:ext cx="747712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mobile app — insurance in their pocket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63183" y="2039112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483223" y="1965960"/>
            <a:ext cx="715708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card, benefits and provider network, offline included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163183" y="2843784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483223" y="2770632"/>
            <a:ext cx="715708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Prior-authorization and reimbursement requests, photo attached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163183" y="3648456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483223" y="3575304"/>
            <a:ext cx="715708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health record for the whole family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the health insurance management platform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42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MEDASSUR+ in production, 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377440"/>
            <a:ext cx="2430018" cy="2377440"/>
          </a:xfrm>
          <a:prstGeom prst="roundRect">
            <a:avLst>
              <a:gd name="adj" fmla="val 3846"/>
            </a:avLst>
          </a:prstGeom>
          <a:solidFill>
            <a:srgbClr val="0D73BF">
              <a:alpha val="28000"/>
            </a:srgbClr>
          </a:solidFill>
          <a:ln w="12700">
            <a:solidFill>
              <a:srgbClr val="2E79B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743200"/>
            <a:ext cx="20642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6A4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7,755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794760"/>
            <a:ext cx="1972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insured members managed in production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435858" y="2377440"/>
            <a:ext cx="2430018" cy="2377440"/>
          </a:xfrm>
          <a:prstGeom prst="roundRect">
            <a:avLst>
              <a:gd name="adj" fmla="val 3846"/>
            </a:avLst>
          </a:prstGeom>
          <a:solidFill>
            <a:srgbClr val="0D73BF">
              <a:alpha val="28000"/>
            </a:srgbClr>
          </a:solidFill>
          <a:ln w="12700">
            <a:solidFill>
              <a:srgbClr val="2E79B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18738" y="2743200"/>
            <a:ext cx="20642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6A4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3664458" y="3794760"/>
            <a:ext cx="1972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policies run in real time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23076" y="2377440"/>
            <a:ext cx="2430018" cy="2377440"/>
          </a:xfrm>
          <a:prstGeom prst="roundRect">
            <a:avLst>
              <a:gd name="adj" fmla="val 3846"/>
            </a:avLst>
          </a:prstGeom>
          <a:solidFill>
            <a:srgbClr val="0D73BF">
              <a:alpha val="28000"/>
            </a:srgbClr>
          </a:solidFill>
          <a:ln w="12700">
            <a:solidFill>
              <a:srgbClr val="2E79B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05956" y="2743200"/>
            <a:ext cx="20642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6A4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6551676" y="3794760"/>
            <a:ext cx="1972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portals, a single data engine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210294" y="2377440"/>
            <a:ext cx="2430018" cy="2377440"/>
          </a:xfrm>
          <a:prstGeom prst="roundRect">
            <a:avLst>
              <a:gd name="adj" fmla="val 3846"/>
            </a:avLst>
          </a:prstGeom>
          <a:solidFill>
            <a:srgbClr val="0D73BF">
              <a:alpha val="28000"/>
            </a:srgbClr>
          </a:solidFill>
          <a:ln w="12700">
            <a:solidFill>
              <a:srgbClr val="2E7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93174" y="2743200"/>
            <a:ext cx="20642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6A4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690 M+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9438894" y="3794760"/>
            <a:ext cx="1972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 in claims tracked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the health insurance management platform</a:t>
            </a:r>
            <a:endParaRPr lang="en-US" sz="9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sets MEDASSUR+ apart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62956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All-in-one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21992"/>
            <a:ext cx="48143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office, portals and mobile on a single data engine.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77356" y="1600200"/>
            <a:ext cx="5362956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51676" y="178308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built in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51676" y="2221992"/>
            <a:ext cx="48143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every step of the process, not a bolt-on gadget.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5362956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52044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fidelity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959352"/>
            <a:ext cx="48143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reproduces the client's exact brand.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77356" y="3337560"/>
            <a:ext cx="5362956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51676" y="352044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Gabon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51676" y="3959352"/>
            <a:ext cx="48143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CIMA zone — not a generic platform adapted afterwards.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the health insurance management platform</a:t>
            </a:r>
            <a:endParaRPr lang="en-US" sz="9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coming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73352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10771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channels for the conversational agent (WhatsApp, email)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42032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468880"/>
            <a:ext cx="10771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signature and QR extended to every document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410712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337560"/>
            <a:ext cx="10771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management reports by agency and by insurer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the health insurance management platform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42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556" y="182880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063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talk about your portfolio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8404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F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contact@medassur.ga   ·   medassur.cloud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ASSUR+">
  <a:themeElements>
    <a:clrScheme name="MEDASSUR+">
      <a:dk1>
        <a:srgbClr val="0B1C2C"/>
      </a:dk1>
      <a:lt1>
        <a:srgbClr val="FFFFFF"/>
      </a:lt1>
      <a:dk2>
        <a:srgbClr val="0A426F"/>
      </a:dk2>
      <a:lt2>
        <a:srgbClr val="EAF4FB"/>
      </a:lt2>
      <a:accent1>
        <a:srgbClr val="0D73BF"/>
      </a:accent1>
      <a:accent2>
        <a:srgbClr val="17A487"/>
      </a:accent2>
      <a:accent3>
        <a:srgbClr val="26A4DA"/>
      </a:accent3>
      <a:accent4>
        <a:srgbClr val="1F5B90"/>
      </a:accent4>
      <a:accent5>
        <a:srgbClr val="DC2626"/>
      </a:accent5>
      <a:accent6>
        <a:srgbClr val="0A2E4D"/>
      </a:accent6>
      <a:hlink>
        <a:srgbClr val="0D73BF"/>
      </a:hlink>
      <a:folHlink>
        <a:srgbClr val="0A426F"/>
      </a:folHlink>
    </a:clrScheme>
    <a:fontScheme name="MEDASSUR+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2026-10-09T13:34:31Z</dcterms:created>
  <dcterms:modified xsi:type="dcterms:W3CDTF">2026-10-09T13:34:31Z</dcterms:modified>
</cp:coreProperties>
</file>